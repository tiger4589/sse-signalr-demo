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8288000" cy="10287000"/>
  <p:notesSz cx="6858000" cy="9144000"/>
  <p:embeddedFontLst>
    <p:embeddedFont>
      <p:font typeface="Karla" pitchFamily="2" charset="0"/>
      <p:regular r:id="rId18"/>
    </p:embeddedFont>
    <p:embeddedFont>
      <p:font typeface="Karla Light" pitchFamily="2" charset="0"/>
      <p:regular r:id="rId19"/>
    </p:embeddedFont>
    <p:embeddedFont>
      <p:font typeface="Karla Medium" pitchFamily="2" charset="0"/>
      <p:regular r:id="rId20"/>
    </p:embeddedFont>
    <p:embeddedFont>
      <p:font typeface="Montserrat SemiBold" panose="00000700000000000000" pitchFamily="2" charset="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59617D-501A-2847-19D7-0B9D994ED2D9}" v="116" dt="2026-04-08T11:12:14.836"/>
    <p1510:client id="{4D948225-5F88-712D-6768-200E791A7342}" v="6" dt="2026-04-08T11:17:04.366"/>
    <p1510:client id="{A7A136D6-EB89-4B68-DEF0-F7C3C93F47F1}" v="3" dt="2026-04-08T11:05:59.6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326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A1223C-D946-48A3-AE59-BDFF8BA92F9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E09C32-A7D4-43E3-99E7-EFFD3BF61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037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if I told you that for some application, </a:t>
            </a:r>
            <a:r>
              <a:rPr lang="en-US" dirty="0" err="1"/>
              <a:t>SignalR</a:t>
            </a:r>
            <a:r>
              <a:rPr lang="en-US" dirty="0"/>
              <a:t> is solving a problem that we don’t actually have?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09C32-A7D4-43E3-99E7-EFFD3BF616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16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0458F-7631-6E2D-7B5F-4BB607D07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765B54-95E4-873A-7C84-400F59F9A2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296CAC-34C1-4527-4E9C-B973572FE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Examples: </a:t>
            </a:r>
            <a:r>
              <a:rPr lang="en-US" dirty="0" err="1"/>
              <a:t>Dashoabrd</a:t>
            </a:r>
            <a:r>
              <a:rPr lang="en-US" dirty="0"/>
              <a:t>, Chat, Collaboration, Notifications, and recently: AI tokens streaming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6B67F-EDBA-C4FB-69CE-D08ADCE5B8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09C32-A7D4-43E3-99E7-EFFD3BF616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31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7BA77-45FD-B3E4-5729-5AC04211F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77BDE1-6684-B6BD-6FFF-51939AC305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79A158-7CBC-8D1C-4BE6-6D6F28295A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2FA5E-60E8-2485-F51B-72589DB633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09C32-A7D4-43E3-99E7-EFFD3BF616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42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DC95C-D36B-5697-719B-8CE3487D2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C8EF93-99AD-AF66-D07F-6B63D28DE9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8EA423-9C75-61CB-1825-F7FC39E170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6487F-4C77-EB41-C5E1-5D82DD14D6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09C32-A7D4-43E3-99E7-EFFD3BF6166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0609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48BF6-0134-A8BD-4726-7A87D9408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39EE2F-0404-AC04-52C0-D72D695E62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0194F9-BF20-5E98-217B-484CDA718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377E2-7DCE-AF49-E899-7C72D6C8B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09C32-A7D4-43E3-99E7-EFFD3BF6166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8D12A-4E7B-70F1-ABA6-BC2B3593D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517F9-C832-BFDB-0CC2-842046EB33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EB3DDF-FCE8-7453-0ECE-DF0344C4E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5849E-DEFA-086E-95B6-5D2EE33998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09C32-A7D4-43E3-99E7-EFFD3BF616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34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13FB9-5DCB-A5E6-7A73-1D3C56533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4B13C4-E235-B77E-AA2A-D0FD5D0EE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E17197-8F6B-3001-20D0-3705499AD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B1B0A-A7CD-443D-E9B5-3C92AAB9D2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09C32-A7D4-43E3-99E7-EFFD3BF6166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7711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05F28-CBC9-BBD3-38BA-7EC0F74E2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CB047B-DA27-E867-0380-BDF47D6575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AB33BB-3511-DB12-E8D6-4FFE43AC7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902DD-E792-5A54-9BE7-A5CB58E67D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09C32-A7D4-43E3-99E7-EFFD3BF6166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4075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54475-0BC7-DB15-388A-0D2D5457C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9CEC4D-A2AF-6870-BE8A-7B211A28A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560737-AE9B-C570-F531-9888286DC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If all I need is for my server to continuously tell the browser something happened, I don't necessarily need </a:t>
            </a:r>
            <a:r>
              <a:rPr lang="en-US" dirty="0" err="1"/>
              <a:t>SignalR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-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C3F09-F97C-C4F9-3C28-5FD6FA2334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09C32-A7D4-43E3-99E7-EFFD3BF6166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970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09C32-A7D4-43E3-99E7-EFFD3BF6166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136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FBFB4B-9AA8-B23C-3D8A-BE8A11BAF2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8558" y="7131368"/>
            <a:ext cx="15773400" cy="19891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nl-BE" err="1"/>
              <a:t>Title</a:t>
            </a:r>
            <a:r>
              <a:rPr lang="nl-B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15851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05200" y="571500"/>
            <a:ext cx="11415849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0561" y="3251563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pic>
        <p:nvPicPr>
          <p:cNvPr id="9" name="Afbeelding 8" descr="Afbeelding met duisternis, schermopname, zwart, natuur&#10;&#10;Automatisch gegenereerde beschrijving">
            <a:extLst>
              <a:ext uri="{FF2B5EF4-FFF2-40B4-BE49-F238E27FC236}">
                <a16:creationId xmlns:a16="http://schemas.microsoft.com/office/drawing/2014/main" id="{22B983A9-DB35-1778-A8F4-929D02DF735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8000" y="6152702"/>
            <a:ext cx="8163380" cy="577151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 descr="Afbeelding met maan, zwart, duisternis, nacht">
            <a:extLst>
              <a:ext uri="{FF2B5EF4-FFF2-40B4-BE49-F238E27FC236}">
                <a16:creationId xmlns:a16="http://schemas.microsoft.com/office/drawing/2014/main" id="{8EC8F6A3-2B14-CBF3-381E-39C9FDE1370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58625" y="-3499758"/>
            <a:ext cx="13031471" cy="92038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05200" y="571500"/>
            <a:ext cx="11415849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0561" y="3251563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631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 descr="Afbeelding met schermopname">
            <a:extLst>
              <a:ext uri="{FF2B5EF4-FFF2-40B4-BE49-F238E27FC236}">
                <a16:creationId xmlns:a16="http://schemas.microsoft.com/office/drawing/2014/main" id="{91D2BC72-0DAE-384A-22D0-F4325C9776A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7671" y="-2107474"/>
            <a:ext cx="9301777" cy="657635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05200" y="571500"/>
            <a:ext cx="11415849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0561" y="3251563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509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05200" y="571500"/>
            <a:ext cx="11415849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0561" y="3251563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7B54D704-7611-B5DD-FD4E-9CD9116A1228}"/>
              </a:ext>
            </a:extLst>
          </p:cNvPr>
          <p:cNvSpPr/>
          <p:nvPr/>
        </p:nvSpPr>
        <p:spPr>
          <a:xfrm rot="5400000">
            <a:off x="16851631" y="9038952"/>
            <a:ext cx="767456" cy="751128"/>
          </a:xfrm>
          <a:custGeom>
            <a:avLst/>
            <a:gdLst/>
            <a:ahLst/>
            <a:cxnLst/>
            <a:rect l="l" t="t" r="r" b="b"/>
            <a:pathLst>
              <a:path w="561744" h="561744">
                <a:moveTo>
                  <a:pt x="0" y="0"/>
                </a:moveTo>
                <a:lnTo>
                  <a:pt x="561744" y="0"/>
                </a:lnTo>
                <a:lnTo>
                  <a:pt x="561744" y="561743"/>
                </a:lnTo>
                <a:lnTo>
                  <a:pt x="0" y="5617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158823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05200" y="571500"/>
            <a:ext cx="11415849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4413" y="3396340"/>
            <a:ext cx="6213565" cy="43724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7B54D704-7611-B5DD-FD4E-9CD9116A1228}"/>
              </a:ext>
            </a:extLst>
          </p:cNvPr>
          <p:cNvSpPr/>
          <p:nvPr/>
        </p:nvSpPr>
        <p:spPr>
          <a:xfrm rot="5400000">
            <a:off x="16851631" y="9038952"/>
            <a:ext cx="767456" cy="751128"/>
          </a:xfrm>
          <a:custGeom>
            <a:avLst/>
            <a:gdLst/>
            <a:ahLst/>
            <a:cxnLst/>
            <a:rect l="l" t="t" r="r" b="b"/>
            <a:pathLst>
              <a:path w="561744" h="561744">
                <a:moveTo>
                  <a:pt x="0" y="0"/>
                </a:moveTo>
                <a:lnTo>
                  <a:pt x="561744" y="0"/>
                </a:lnTo>
                <a:lnTo>
                  <a:pt x="561744" y="561743"/>
                </a:lnTo>
                <a:lnTo>
                  <a:pt x="0" y="5617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52667D-69B9-E461-99BF-0403CB60C32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980023" y="3396341"/>
            <a:ext cx="6213565" cy="43724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993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 descr="Afbeelding met maan, zwart, duisternis, nacht&#10;&#10;Automatisch gegenereerde beschrijving">
            <a:extLst>
              <a:ext uri="{FF2B5EF4-FFF2-40B4-BE49-F238E27FC236}">
                <a16:creationId xmlns:a16="http://schemas.microsoft.com/office/drawing/2014/main" id="{E9E227C7-1A53-41D9-7F4C-61A2E640661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02168" y="-3238500"/>
            <a:ext cx="14550212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95800" y="1333500"/>
            <a:ext cx="9642566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Title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cirkel, schermopname&#10;&#10;Automatisch gegenereerde beschrijving">
            <a:extLst>
              <a:ext uri="{FF2B5EF4-FFF2-40B4-BE49-F238E27FC236}">
                <a16:creationId xmlns:a16="http://schemas.microsoft.com/office/drawing/2014/main" id="{0D94F9D0-310E-D463-4AED-F2232553805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165963" y="3039291"/>
            <a:ext cx="8105007" cy="57302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 descr="Afbeelding met schermopname&#10;&#10;Automatisch gegenereerde beschrijving">
            <a:extLst>
              <a:ext uri="{FF2B5EF4-FFF2-40B4-BE49-F238E27FC236}">
                <a16:creationId xmlns:a16="http://schemas.microsoft.com/office/drawing/2014/main" id="{106B881D-147E-640A-93ED-4F3FD5125EC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7671" y="-2107474"/>
            <a:ext cx="9301777" cy="657635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15843" y="1409700"/>
            <a:ext cx="5141912" cy="1162050"/>
          </a:xfrm>
          <a:prstGeom prst="rect">
            <a:avLst/>
          </a:prstGeom>
        </p:spPr>
        <p:txBody>
          <a:bodyPr anchor="b"/>
          <a:lstStyle>
            <a:lvl1pPr algn="ctr">
              <a:defRPr sz="2000" b="1"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115843" y="3086100"/>
            <a:ext cx="5141913" cy="49958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latin typeface="Karla Medium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Afbeelding met duisternis, schermopname, zwart, natuur&#10;&#10;Automatisch gegenereerde beschrijving">
            <a:extLst>
              <a:ext uri="{FF2B5EF4-FFF2-40B4-BE49-F238E27FC236}">
                <a16:creationId xmlns:a16="http://schemas.microsoft.com/office/drawing/2014/main" id="{06617DE0-961E-92A9-30CA-54ECFEEF706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60454" y="-2033408"/>
            <a:ext cx="8668477" cy="6128613"/>
          </a:xfrm>
          <a:prstGeom prst="rect">
            <a:avLst/>
          </a:prstGeom>
        </p:spPr>
      </p:pic>
      <p:pic>
        <p:nvPicPr>
          <p:cNvPr id="9" name="Afbeelding 8" descr="Afbeelding met zwart&#10;&#10;Automatisch gegenereerde beschrijving">
            <a:extLst>
              <a:ext uri="{FF2B5EF4-FFF2-40B4-BE49-F238E27FC236}">
                <a16:creationId xmlns:a16="http://schemas.microsoft.com/office/drawing/2014/main" id="{4D4F4754-3D7D-2153-186B-12A97AC5EB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02675" y="-196691"/>
            <a:ext cx="5124089" cy="362273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F8CD712-7693-A33D-C40F-B625718889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8343" y="1027653"/>
            <a:ext cx="10093234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nl-NL" err="1"/>
              <a:t>Title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89782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4509DCEE-349A-4ACD-90D3-2DA188793612}"/>
              </a:ext>
            </a:extLst>
          </p:cNvPr>
          <p:cNvSpPr/>
          <p:nvPr/>
        </p:nvSpPr>
        <p:spPr>
          <a:xfrm>
            <a:off x="2721216" y="5318875"/>
            <a:ext cx="860198" cy="860198"/>
          </a:xfrm>
          <a:custGeom>
            <a:avLst/>
            <a:gdLst/>
            <a:ahLst/>
            <a:cxnLst/>
            <a:rect l="l" t="t" r="r" b="b"/>
            <a:pathLst>
              <a:path w="860198" h="860198">
                <a:moveTo>
                  <a:pt x="0" y="0"/>
                </a:moveTo>
                <a:lnTo>
                  <a:pt x="860198" y="0"/>
                </a:lnTo>
                <a:lnTo>
                  <a:pt x="860198" y="860198"/>
                </a:lnTo>
                <a:lnTo>
                  <a:pt x="0" y="860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D16DF43-A660-3A20-D51F-FD9E1D2EBA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361" y="1554467"/>
            <a:ext cx="10093234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nl-NL"/>
              <a:t>Titel</a:t>
            </a:r>
            <a:endParaRPr lang="en-BE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9599415B-FAF4-48A8-31F1-4FCD0C3A2009}"/>
              </a:ext>
            </a:extLst>
          </p:cNvPr>
          <p:cNvSpPr/>
          <p:nvPr/>
        </p:nvSpPr>
        <p:spPr>
          <a:xfrm rot="5400000">
            <a:off x="2216523" y="6843792"/>
            <a:ext cx="553020" cy="287570"/>
          </a:xfrm>
          <a:custGeom>
            <a:avLst/>
            <a:gdLst/>
            <a:ahLst/>
            <a:cxnLst/>
            <a:rect l="l" t="t" r="r" b="b"/>
            <a:pathLst>
              <a:path w="553020" h="287570">
                <a:moveTo>
                  <a:pt x="0" y="0"/>
                </a:moveTo>
                <a:lnTo>
                  <a:pt x="553020" y="0"/>
                </a:lnTo>
                <a:lnTo>
                  <a:pt x="553020" y="287571"/>
                </a:lnTo>
                <a:lnTo>
                  <a:pt x="0" y="2875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466FEE9A-AA14-88E9-B4C8-88116C597B4B}"/>
              </a:ext>
            </a:extLst>
          </p:cNvPr>
          <p:cNvSpPr/>
          <p:nvPr/>
        </p:nvSpPr>
        <p:spPr>
          <a:xfrm rot="5400000">
            <a:off x="3019670" y="7599289"/>
            <a:ext cx="561744" cy="561744"/>
          </a:xfrm>
          <a:custGeom>
            <a:avLst/>
            <a:gdLst/>
            <a:ahLst/>
            <a:cxnLst/>
            <a:rect l="l" t="t" r="r" b="b"/>
            <a:pathLst>
              <a:path w="561744" h="561744">
                <a:moveTo>
                  <a:pt x="0" y="0"/>
                </a:moveTo>
                <a:lnTo>
                  <a:pt x="561744" y="0"/>
                </a:lnTo>
                <a:lnTo>
                  <a:pt x="561744" y="561743"/>
                </a:lnTo>
                <a:lnTo>
                  <a:pt x="0" y="5617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3FD00B8-069C-EBD2-6AFA-2E7D148140C5}"/>
              </a:ext>
            </a:extLst>
          </p:cNvPr>
          <p:cNvSpPr/>
          <p:nvPr/>
        </p:nvSpPr>
        <p:spPr>
          <a:xfrm rot="-5400000">
            <a:off x="686161" y="5748974"/>
            <a:ext cx="1423084" cy="1423084"/>
          </a:xfrm>
          <a:custGeom>
            <a:avLst/>
            <a:gdLst/>
            <a:ahLst/>
            <a:cxnLst/>
            <a:rect l="l" t="t" r="r" b="b"/>
            <a:pathLst>
              <a:path w="1423084" h="1423084">
                <a:moveTo>
                  <a:pt x="0" y="0"/>
                </a:moveTo>
                <a:lnTo>
                  <a:pt x="1423084" y="0"/>
                </a:lnTo>
                <a:lnTo>
                  <a:pt x="1423084" y="1423084"/>
                </a:lnTo>
                <a:lnTo>
                  <a:pt x="0" y="14230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EFCA3616-18A5-5CA7-1200-1C2A7964539D}"/>
              </a:ext>
            </a:extLst>
          </p:cNvPr>
          <p:cNvSpPr/>
          <p:nvPr/>
        </p:nvSpPr>
        <p:spPr>
          <a:xfrm rot="-10800000">
            <a:off x="686161" y="7599289"/>
            <a:ext cx="2138182" cy="2138182"/>
          </a:xfrm>
          <a:custGeom>
            <a:avLst/>
            <a:gdLst/>
            <a:ahLst/>
            <a:cxnLst/>
            <a:rect l="l" t="t" r="r" b="b"/>
            <a:pathLst>
              <a:path w="2138182" h="2138182">
                <a:moveTo>
                  <a:pt x="0" y="0"/>
                </a:moveTo>
                <a:lnTo>
                  <a:pt x="2138182" y="0"/>
                </a:lnTo>
                <a:lnTo>
                  <a:pt x="2138182" y="2138182"/>
                </a:lnTo>
                <a:lnTo>
                  <a:pt x="0" y="21381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40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 descr="Afbeelding met tekst, Lettertype, logo, Graphics&#10;&#10;Automatisch gegenereerde beschrijving">
            <a:extLst>
              <a:ext uri="{FF2B5EF4-FFF2-40B4-BE49-F238E27FC236}">
                <a16:creationId xmlns:a16="http://schemas.microsoft.com/office/drawing/2014/main" id="{1F781DE8-49DE-03FD-6552-0AF401B4076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3368" y="2827019"/>
            <a:ext cx="10937423" cy="4374969"/>
          </a:xfrm>
          <a:prstGeom prst="rect">
            <a:avLst/>
          </a:prstGeom>
          <a:blipFill>
            <a:blip r:embed="rId14"/>
            <a:tile tx="0" ty="0" sx="100000" sy="100000" flip="none" algn="tl"/>
          </a:blipFill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0" r:id="rId2"/>
    <p:sldLayoutId id="2147483660" r:id="rId3"/>
    <p:sldLayoutId id="2147483661" r:id="rId4"/>
    <p:sldLayoutId id="2147483662" r:id="rId5"/>
    <p:sldLayoutId id="214748366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Montserrat SemiBold" panose="00000700000000000000" pitchFamily="2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Karla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Karla Light" panose="020F0502020204030204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Karla Medium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Karla Light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6694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E6F42C-A25E-47FC-5FA4-7CABB45E1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361" y="1554467"/>
            <a:ext cx="14563364" cy="1143000"/>
          </a:xfrm>
        </p:spPr>
        <p:txBody>
          <a:bodyPr lIns="91440" tIns="45720" rIns="91440" bIns="45720" anchor="t"/>
          <a:lstStyle/>
          <a:p>
            <a:r>
              <a:rPr lang="en-US" sz="6000" dirty="0"/>
              <a:t>SSE vs </a:t>
            </a:r>
            <a:r>
              <a:rPr lang="en-US" sz="6000" dirty="0" err="1"/>
              <a:t>SignalR</a:t>
            </a:r>
            <a:r>
              <a:rPr lang="en-US" sz="6000" dirty="0"/>
              <a:t>: Choosing the right real-time tool in .NET 10</a:t>
            </a:r>
            <a:endParaRPr lang="fr-FR" sz="6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5BD4AF-5240-668A-E170-E716A8869668}"/>
              </a:ext>
            </a:extLst>
          </p:cNvPr>
          <p:cNvSpPr txBox="1"/>
          <p:nvPr/>
        </p:nvSpPr>
        <p:spPr>
          <a:xfrm>
            <a:off x="12420600" y="3307318"/>
            <a:ext cx="4019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And subsequent versions (soon)</a:t>
            </a:r>
          </a:p>
        </p:txBody>
      </p:sp>
    </p:spTree>
    <p:extLst>
      <p:ext uri="{BB962C8B-B14F-4D97-AF65-F5344CB8AC3E}">
        <p14:creationId xmlns:p14="http://schemas.microsoft.com/office/powerpoint/2010/main" val="24942170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8BBD-CF1B-23A7-D3A6-C4E4F6EE7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/>
              <a:t>Before we start…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B31A42-530B-240A-53A0-E64B3C4187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3662" y="2443162"/>
            <a:ext cx="5400675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232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7BB78-0BC7-1433-54BE-7C2827237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894F8-C437-AFE5-D1B0-6C939A1F6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/>
              <a:t>Real-Time? What does it mean?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C5B9931-F0AF-B165-E816-D90BAFE71DE7}"/>
              </a:ext>
            </a:extLst>
          </p:cNvPr>
          <p:cNvGrpSpPr/>
          <p:nvPr/>
        </p:nvGrpSpPr>
        <p:grpSpPr>
          <a:xfrm>
            <a:off x="1819275" y="2400300"/>
            <a:ext cx="5105399" cy="7305675"/>
            <a:chOff x="1819275" y="2400300"/>
            <a:chExt cx="5105399" cy="730567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3ADEC39-E77C-E823-3BDF-F4E023B01634}"/>
                </a:ext>
              </a:extLst>
            </p:cNvPr>
            <p:cNvSpPr txBox="1"/>
            <p:nvPr/>
          </p:nvSpPr>
          <p:spPr>
            <a:xfrm>
              <a:off x="5410199" y="3960615"/>
              <a:ext cx="15144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dirty="0"/>
                <a:t>Server</a:t>
              </a: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2E3C4A2-24B7-52DE-3FC9-90108E1E7578}"/>
                </a:ext>
              </a:extLst>
            </p:cNvPr>
            <p:cNvGrpSpPr/>
            <p:nvPr/>
          </p:nvGrpSpPr>
          <p:grpSpPr>
            <a:xfrm>
              <a:off x="1819275" y="2400300"/>
              <a:ext cx="4591050" cy="7305675"/>
              <a:chOff x="1819275" y="2400300"/>
              <a:chExt cx="4591050" cy="7305675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A9BEABC-A655-38D1-BE9F-056865017BCE}"/>
                  </a:ext>
                </a:extLst>
              </p:cNvPr>
              <p:cNvSpPr/>
              <p:nvPr/>
            </p:nvSpPr>
            <p:spPr>
              <a:xfrm>
                <a:off x="1819275" y="2400300"/>
                <a:ext cx="4591050" cy="730567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EF79B6F-B670-E83D-AE6B-86AC47A8859D}"/>
                  </a:ext>
                </a:extLst>
              </p:cNvPr>
              <p:cNvSpPr txBox="1"/>
              <p:nvPr/>
            </p:nvSpPr>
            <p:spPr>
              <a:xfrm>
                <a:off x="1876425" y="2466975"/>
                <a:ext cx="44577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5400" dirty="0"/>
                  <a:t>Normal HTTP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4E67770-16A8-866A-E610-05E8144381C3}"/>
                  </a:ext>
                </a:extLst>
              </p:cNvPr>
              <p:cNvSpPr txBox="1"/>
              <p:nvPr/>
            </p:nvSpPr>
            <p:spPr>
              <a:xfrm>
                <a:off x="1924049" y="3940495"/>
                <a:ext cx="15144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dirty="0"/>
                  <a:t>Client</a:t>
                </a:r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A356DDD8-2BEB-D792-B290-9CE4132AD6EA}"/>
                  </a:ext>
                </a:extLst>
              </p:cNvPr>
              <p:cNvCxnSpPr>
                <a:cxnSpLocks/>
                <a:stCxn id="16" idx="0"/>
              </p:cNvCxnSpPr>
              <p:nvPr/>
            </p:nvCxnSpPr>
            <p:spPr>
              <a:xfrm>
                <a:off x="2681287" y="3940495"/>
                <a:ext cx="272891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5E214E68-F3F4-26D6-03B1-7F466FEB678A}"/>
                  </a:ext>
                </a:extLst>
              </p:cNvPr>
              <p:cNvCxnSpPr/>
              <p:nvPr/>
            </p:nvCxnSpPr>
            <p:spPr>
              <a:xfrm flipH="1">
                <a:off x="2681286" y="4457466"/>
                <a:ext cx="272891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A8B59C3-F9B3-BEF8-4EC1-D390F9EA97AE}"/>
                  </a:ext>
                </a:extLst>
              </p:cNvPr>
              <p:cNvSpPr txBox="1"/>
              <p:nvPr/>
            </p:nvSpPr>
            <p:spPr>
              <a:xfrm>
                <a:off x="3509961" y="3591283"/>
                <a:ext cx="10715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dirty="0"/>
                  <a:t>Request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80B1745-D735-850B-2291-6D1DBA445499}"/>
                  </a:ext>
                </a:extLst>
              </p:cNvPr>
              <p:cNvSpPr txBox="1"/>
              <p:nvPr/>
            </p:nvSpPr>
            <p:spPr>
              <a:xfrm>
                <a:off x="3509960" y="4457466"/>
                <a:ext cx="12715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dirty="0"/>
                  <a:t>Response</a:t>
                </a:r>
              </a:p>
            </p:txBody>
          </p: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1526EC6-CC0F-5A34-028B-F34456C912D3}"/>
              </a:ext>
            </a:extLst>
          </p:cNvPr>
          <p:cNvGrpSpPr/>
          <p:nvPr/>
        </p:nvGrpSpPr>
        <p:grpSpPr>
          <a:xfrm>
            <a:off x="7372350" y="2380654"/>
            <a:ext cx="5943600" cy="7325320"/>
            <a:chOff x="7372350" y="2380654"/>
            <a:chExt cx="5943600" cy="732532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03491A2-E5B0-2ED8-B5BD-E5E6765A1999}"/>
                </a:ext>
              </a:extLst>
            </p:cNvPr>
            <p:cNvSpPr txBox="1"/>
            <p:nvPr/>
          </p:nvSpPr>
          <p:spPr>
            <a:xfrm>
              <a:off x="8858250" y="2380654"/>
              <a:ext cx="44577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5400" dirty="0"/>
                <a:t>SSE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A28B98D-5275-2037-57C6-78E7352162F9}"/>
                </a:ext>
              </a:extLst>
            </p:cNvPr>
            <p:cNvSpPr txBox="1"/>
            <p:nvPr/>
          </p:nvSpPr>
          <p:spPr>
            <a:xfrm>
              <a:off x="10982325" y="3750112"/>
              <a:ext cx="15144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dirty="0"/>
                <a:t>Server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1BF0AB8-CBED-CC25-742C-1701E45785FD}"/>
                </a:ext>
              </a:extLst>
            </p:cNvPr>
            <p:cNvSpPr txBox="1"/>
            <p:nvPr/>
          </p:nvSpPr>
          <p:spPr>
            <a:xfrm>
              <a:off x="11010899" y="4211572"/>
              <a:ext cx="15144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dirty="0"/>
                <a:t>Server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759EE17-E583-33E1-6808-54E053AD0C62}"/>
                </a:ext>
              </a:extLst>
            </p:cNvPr>
            <p:cNvSpPr txBox="1"/>
            <p:nvPr/>
          </p:nvSpPr>
          <p:spPr>
            <a:xfrm>
              <a:off x="11010899" y="4625884"/>
              <a:ext cx="15144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dirty="0"/>
                <a:t>Server</a:t>
              </a: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67D001F3-D507-7AF6-D3BC-E7DCD7A1BAB3}"/>
                </a:ext>
              </a:extLst>
            </p:cNvPr>
            <p:cNvGrpSpPr/>
            <p:nvPr/>
          </p:nvGrpSpPr>
          <p:grpSpPr>
            <a:xfrm>
              <a:off x="7372350" y="2400299"/>
              <a:ext cx="4591050" cy="7305675"/>
              <a:chOff x="7372350" y="2400299"/>
              <a:chExt cx="4591050" cy="730567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F35BFD7-890A-F9CA-9AE7-0EA37C24CF67}"/>
                  </a:ext>
                </a:extLst>
              </p:cNvPr>
              <p:cNvSpPr/>
              <p:nvPr/>
            </p:nvSpPr>
            <p:spPr>
              <a:xfrm>
                <a:off x="7372350" y="2400299"/>
                <a:ext cx="4591050" cy="730567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A1F2B3A-D9CF-B6A5-1ACD-4C66465DA0D4}"/>
                  </a:ext>
                </a:extLst>
              </p:cNvPr>
              <p:cNvSpPr txBox="1"/>
              <p:nvPr/>
            </p:nvSpPr>
            <p:spPr>
              <a:xfrm>
                <a:off x="7496175" y="3729992"/>
                <a:ext cx="15144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dirty="0"/>
                  <a:t>Client</a:t>
                </a:r>
              </a:p>
            </p:txBody>
          </p: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A1A4AA06-3BC7-12E5-3310-6E15FDF1A7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81987" y="3940495"/>
                <a:ext cx="272891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18DA3C0D-23E9-3200-1FE7-26C270590EDF}"/>
                  </a:ext>
                </a:extLst>
              </p:cNvPr>
              <p:cNvCxnSpPr/>
              <p:nvPr/>
            </p:nvCxnSpPr>
            <p:spPr>
              <a:xfrm flipH="1">
                <a:off x="8281987" y="4396238"/>
                <a:ext cx="272891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0BA06F4-02E7-8EE6-8926-C9BCF1CECFEF}"/>
                  </a:ext>
                </a:extLst>
              </p:cNvPr>
              <p:cNvSpPr txBox="1"/>
              <p:nvPr/>
            </p:nvSpPr>
            <p:spPr>
              <a:xfrm>
                <a:off x="9082085" y="3541965"/>
                <a:ext cx="10715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dirty="0"/>
                  <a:t>Request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D8CEF16-B929-548C-99A5-3BFE9CF8205E}"/>
                  </a:ext>
                </a:extLst>
              </p:cNvPr>
              <p:cNvSpPr txBox="1"/>
              <p:nvPr/>
            </p:nvSpPr>
            <p:spPr>
              <a:xfrm>
                <a:off x="9177336" y="4392341"/>
                <a:ext cx="12715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dirty="0"/>
                  <a:t>Event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50CD3E6-2994-33FA-7853-98E8050D21E5}"/>
                  </a:ext>
                </a:extLst>
              </p:cNvPr>
              <p:cNvSpPr txBox="1"/>
              <p:nvPr/>
            </p:nvSpPr>
            <p:spPr>
              <a:xfrm>
                <a:off x="7496173" y="4211572"/>
                <a:ext cx="15144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dirty="0"/>
                  <a:t>Client</a:t>
                </a:r>
              </a:p>
            </p:txBody>
          </p: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CCCA50B8-AAEA-DB60-EA78-A9219EE05B14}"/>
                  </a:ext>
                </a:extLst>
              </p:cNvPr>
              <p:cNvCxnSpPr/>
              <p:nvPr/>
            </p:nvCxnSpPr>
            <p:spPr>
              <a:xfrm flipH="1">
                <a:off x="8281987" y="4810550"/>
                <a:ext cx="272891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09E743A-E332-7106-39A7-C29585EFA2F8}"/>
                  </a:ext>
                </a:extLst>
              </p:cNvPr>
              <p:cNvSpPr txBox="1"/>
              <p:nvPr/>
            </p:nvSpPr>
            <p:spPr>
              <a:xfrm>
                <a:off x="9177336" y="4806653"/>
                <a:ext cx="12715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dirty="0"/>
                  <a:t>Event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DF8CDFF-F3B2-2823-44C1-91036E6795F0}"/>
                  </a:ext>
                </a:extLst>
              </p:cNvPr>
              <p:cNvSpPr txBox="1"/>
              <p:nvPr/>
            </p:nvSpPr>
            <p:spPr>
              <a:xfrm>
                <a:off x="7496173" y="4625884"/>
                <a:ext cx="15144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dirty="0"/>
                  <a:t>Client</a:t>
                </a:r>
              </a:p>
            </p:txBody>
          </p: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609C1320-F3F8-BE0E-8C73-C536126FF3E5}"/>
                  </a:ext>
                </a:extLst>
              </p:cNvPr>
              <p:cNvCxnSpPr/>
              <p:nvPr/>
            </p:nvCxnSpPr>
            <p:spPr>
              <a:xfrm flipH="1">
                <a:off x="8281987" y="5269440"/>
                <a:ext cx="272891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B341CB8-9DF3-F9B6-7F16-7BDEFB276440}"/>
                  </a:ext>
                </a:extLst>
              </p:cNvPr>
              <p:cNvSpPr txBox="1"/>
              <p:nvPr/>
            </p:nvSpPr>
            <p:spPr>
              <a:xfrm>
                <a:off x="9177336" y="5265543"/>
                <a:ext cx="12715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dirty="0"/>
                  <a:t>Event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E6A09C2-A011-9E04-45A6-2421D027FB81}"/>
                  </a:ext>
                </a:extLst>
              </p:cNvPr>
              <p:cNvSpPr txBox="1"/>
              <p:nvPr/>
            </p:nvSpPr>
            <p:spPr>
              <a:xfrm>
                <a:off x="7496173" y="5084774"/>
                <a:ext cx="15144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dirty="0"/>
                  <a:t>Client</a:t>
                </a: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4CDEB65-0519-C088-0BF7-35EE816D27B3}"/>
                </a:ext>
              </a:extLst>
            </p:cNvPr>
            <p:cNvSpPr txBox="1"/>
            <p:nvPr/>
          </p:nvSpPr>
          <p:spPr>
            <a:xfrm>
              <a:off x="11010899" y="5084774"/>
              <a:ext cx="15144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dirty="0"/>
                <a:t>Server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10692D1-BE02-03E6-457C-161C03255457}"/>
              </a:ext>
            </a:extLst>
          </p:cNvPr>
          <p:cNvGrpSpPr/>
          <p:nvPr/>
        </p:nvGrpSpPr>
        <p:grpSpPr>
          <a:xfrm>
            <a:off x="12801600" y="2341363"/>
            <a:ext cx="5353050" cy="7364611"/>
            <a:chOff x="12801600" y="2341363"/>
            <a:chExt cx="5353050" cy="736461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991F153-F06F-53AF-5605-D7CC4ACF858B}"/>
                </a:ext>
              </a:extLst>
            </p:cNvPr>
            <p:cNvSpPr txBox="1"/>
            <p:nvPr/>
          </p:nvSpPr>
          <p:spPr>
            <a:xfrm>
              <a:off x="13696950" y="2341363"/>
              <a:ext cx="44577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5400" dirty="0" err="1"/>
                <a:t>SignalR</a:t>
              </a:r>
              <a:endParaRPr lang="en-US" sz="5400" dirty="0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C136C60B-3B7E-0EF2-A446-69A19B56CD23}"/>
                </a:ext>
              </a:extLst>
            </p:cNvPr>
            <p:cNvGrpSpPr/>
            <p:nvPr/>
          </p:nvGrpSpPr>
          <p:grpSpPr>
            <a:xfrm>
              <a:off x="12801600" y="2400299"/>
              <a:ext cx="5181600" cy="7305675"/>
              <a:chOff x="12801600" y="2400299"/>
              <a:chExt cx="5181600" cy="7305675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0846800-02EF-5A97-DF8F-87F783D54D23}"/>
                  </a:ext>
                </a:extLst>
              </p:cNvPr>
              <p:cNvSpPr/>
              <p:nvPr/>
            </p:nvSpPr>
            <p:spPr>
              <a:xfrm>
                <a:off x="12801600" y="2400299"/>
                <a:ext cx="4591050" cy="730567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82513AD-E119-2C31-5E2B-8290C1DA3AA2}"/>
                  </a:ext>
                </a:extLst>
              </p:cNvPr>
              <p:cNvSpPr txBox="1"/>
              <p:nvPr/>
            </p:nvSpPr>
            <p:spPr>
              <a:xfrm>
                <a:off x="12982573" y="3640264"/>
                <a:ext cx="15144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dirty="0"/>
                  <a:t>Client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0294700-9E49-CAE5-22FB-9318825B93BE}"/>
                  </a:ext>
                </a:extLst>
              </p:cNvPr>
              <p:cNvSpPr txBox="1"/>
              <p:nvPr/>
            </p:nvSpPr>
            <p:spPr>
              <a:xfrm>
                <a:off x="16468725" y="3640264"/>
                <a:ext cx="15144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dirty="0"/>
                  <a:t>Server</a:t>
                </a:r>
              </a:p>
            </p:txBody>
          </p: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6E37CCAD-9AA7-6A46-6661-94EBE6208424}"/>
                  </a:ext>
                </a:extLst>
              </p:cNvPr>
              <p:cNvCxnSpPr>
                <a:cxnSpLocks/>
                <a:endCxn id="47" idx="1"/>
              </p:cNvCxnSpPr>
              <p:nvPr/>
            </p:nvCxnSpPr>
            <p:spPr>
              <a:xfrm>
                <a:off x="13739813" y="3824930"/>
                <a:ext cx="2728912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507A92D-F1AF-C327-2AA8-376EA02AF3F3}"/>
                  </a:ext>
                </a:extLst>
              </p:cNvPr>
              <p:cNvSpPr txBox="1"/>
              <p:nvPr/>
            </p:nvSpPr>
            <p:spPr>
              <a:xfrm>
                <a:off x="13696950" y="4211572"/>
                <a:ext cx="277177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dirty="0"/>
                  <a:t>Messages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dirty="0"/>
                  <a:t>Calls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dirty="0"/>
                  <a:t>Events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dirty="0"/>
                  <a:t>RPC</a:t>
                </a:r>
              </a:p>
            </p:txBody>
          </p:sp>
        </p:grp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78A7A749-FAFF-E0E2-1A6C-654403F861FC}"/>
              </a:ext>
            </a:extLst>
          </p:cNvPr>
          <p:cNvSpPr txBox="1"/>
          <p:nvPr/>
        </p:nvSpPr>
        <p:spPr>
          <a:xfrm>
            <a:off x="12982573" y="8791575"/>
            <a:ext cx="42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BTW: </a:t>
            </a:r>
            <a:r>
              <a:rPr lang="en-US" dirty="0" err="1"/>
              <a:t>SignalR</a:t>
            </a:r>
            <a:r>
              <a:rPr lang="en-US" dirty="0"/>
              <a:t> supports SSE!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18A596-2139-C836-5DC8-C067DB2773F5}"/>
              </a:ext>
            </a:extLst>
          </p:cNvPr>
          <p:cNvSpPr txBox="1"/>
          <p:nvPr/>
        </p:nvSpPr>
        <p:spPr>
          <a:xfrm>
            <a:off x="8281987" y="6060507"/>
            <a:ext cx="2728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Connection stays open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034629-95C2-7D55-A606-774F456F5787}"/>
              </a:ext>
            </a:extLst>
          </p:cNvPr>
          <p:cNvSpPr txBox="1"/>
          <p:nvPr/>
        </p:nvSpPr>
        <p:spPr>
          <a:xfrm>
            <a:off x="13838901" y="6031253"/>
            <a:ext cx="2728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Connection stays open</a:t>
            </a:r>
          </a:p>
        </p:txBody>
      </p:sp>
    </p:spTree>
    <p:extLst>
      <p:ext uri="{BB962C8B-B14F-4D97-AF65-F5344CB8AC3E}">
        <p14:creationId xmlns:p14="http://schemas.microsoft.com/office/powerpoint/2010/main" val="16671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3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FD850-0CDA-0892-E3A3-3D7608130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FC30D-8F82-F838-C089-15DC714EA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/>
              <a:t>What is SSE? And why now?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5150D3-F89B-E8E2-7C82-5519D0066460}"/>
              </a:ext>
            </a:extLst>
          </p:cNvPr>
          <p:cNvSpPr txBox="1"/>
          <p:nvPr/>
        </p:nvSpPr>
        <p:spPr>
          <a:xfrm>
            <a:off x="1819275" y="3894656"/>
            <a:ext cx="13735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200" dirty="0"/>
              <a:t>Standard HTTP connection that uses text/event-stream content-type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1284A4-248C-0A21-004A-4ED451ECAFDD}"/>
              </a:ext>
            </a:extLst>
          </p:cNvPr>
          <p:cNvSpPr txBox="1"/>
          <p:nvPr/>
        </p:nvSpPr>
        <p:spPr>
          <a:xfrm>
            <a:off x="1819275" y="4840403"/>
            <a:ext cx="13735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200" dirty="0"/>
              <a:t>One-way communication flow: server to client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D9CEE6-3B42-F15E-F4EA-67BD242BC47F}"/>
              </a:ext>
            </a:extLst>
          </p:cNvPr>
          <p:cNvSpPr txBox="1"/>
          <p:nvPr/>
        </p:nvSpPr>
        <p:spPr>
          <a:xfrm>
            <a:off x="1819275" y="5786150"/>
            <a:ext cx="13735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200" dirty="0"/>
              <a:t>Browser itself handles connection drops, without additional code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EA61BA-92E4-F5AA-D408-06F38FBEA72F}"/>
              </a:ext>
            </a:extLst>
          </p:cNvPr>
          <p:cNvSpPr txBox="1"/>
          <p:nvPr/>
        </p:nvSpPr>
        <p:spPr>
          <a:xfrm>
            <a:off x="1819275" y="6628960"/>
            <a:ext cx="13735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200" dirty="0"/>
              <a:t>Easier to use after .NET 10 – Let’s see why!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56F67E-25EF-EA9B-ECEE-429068939F7B}"/>
              </a:ext>
            </a:extLst>
          </p:cNvPr>
          <p:cNvSpPr txBox="1"/>
          <p:nvPr/>
        </p:nvSpPr>
        <p:spPr>
          <a:xfrm>
            <a:off x="1819275" y="3051846"/>
            <a:ext cx="13735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200" dirty="0"/>
              <a:t>First proposed in 2004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7CE4CA-6F25-251A-C88B-BD473B630265}"/>
              </a:ext>
            </a:extLst>
          </p:cNvPr>
          <p:cNvSpPr txBox="1"/>
          <p:nvPr/>
        </p:nvSpPr>
        <p:spPr>
          <a:xfrm>
            <a:off x="17393645" y="9838459"/>
            <a:ext cx="7578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560928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2" grpId="0"/>
      <p:bldP spid="17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51F78-D735-E9E9-340D-A8D49F8A1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8CF71-A1A9-B82B-D573-6B294DC7F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/>
              <a:t>So, why now?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7760F7-11F9-FF98-16A9-3AA78349A6EA}"/>
              </a:ext>
            </a:extLst>
          </p:cNvPr>
          <p:cNvSpPr txBox="1"/>
          <p:nvPr/>
        </p:nvSpPr>
        <p:spPr>
          <a:xfrm>
            <a:off x="1819275" y="3894656"/>
            <a:ext cx="13735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200" dirty="0"/>
              <a:t>Supported by minimal APIs and Controllers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77F80E-0D89-CB7E-9D76-18BC694BB2D1}"/>
              </a:ext>
            </a:extLst>
          </p:cNvPr>
          <p:cNvSpPr txBox="1"/>
          <p:nvPr/>
        </p:nvSpPr>
        <p:spPr>
          <a:xfrm>
            <a:off x="1819275" y="3051846"/>
            <a:ext cx="13735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200" dirty="0"/>
              <a:t>Support for returning a </a:t>
            </a:r>
            <a:r>
              <a:rPr lang="en-US" sz="3200" dirty="0" err="1"/>
              <a:t>ServerSentEvents</a:t>
            </a:r>
            <a:r>
              <a:rPr lang="en-US" sz="3200" dirty="0"/>
              <a:t> result.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F8C6396-C638-941B-2B67-F509A56A6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087378"/>
              </p:ext>
            </p:extLst>
          </p:nvPr>
        </p:nvGraphicFramePr>
        <p:xfrm>
          <a:off x="3108960" y="5807570"/>
          <a:ext cx="12192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4267671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29555774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517490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Responsibility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.NET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.NET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7278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Content-Type: text/event-stream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Manual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Automatic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804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Event formatting (data:, id:, event:)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Manual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Automatic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003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JSON serialization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Manual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Automatic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863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Response flushing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Manual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Automatic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73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Connection lifetime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Mostly 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Integrated with cancellation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062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Returning typed objects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262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Named events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Manual text formatting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SseItem</a:t>
                      </a:r>
                      <a:r>
                        <a:rPr lang="en-US" dirty="0"/>
                        <a:t>&lt;T&gt;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1587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Event IDs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Manual text formatting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eventide property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381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Retry interval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Manual text formatting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reconnectionInterval</a:t>
                      </a:r>
                      <a:r>
                        <a:rPr lang="en-US" dirty="0"/>
                        <a:t> property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33394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E017A04-B7DC-B2EE-EA07-6519607527CA}"/>
              </a:ext>
            </a:extLst>
          </p:cNvPr>
          <p:cNvSpPr txBox="1"/>
          <p:nvPr/>
        </p:nvSpPr>
        <p:spPr>
          <a:xfrm>
            <a:off x="1819275" y="4672372"/>
            <a:ext cx="13735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200" dirty="0"/>
              <a:t>Less responsibilities as a dev</a:t>
            </a:r>
          </a:p>
        </p:txBody>
      </p:sp>
    </p:spTree>
    <p:extLst>
      <p:ext uri="{BB962C8B-B14F-4D97-AF65-F5344CB8AC3E}">
        <p14:creationId xmlns:p14="http://schemas.microsoft.com/office/powerpoint/2010/main" val="780275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D5966-A47B-B9AE-E17E-143CD1596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9A94C-0527-4B69-4D6B-5241F14F2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 err="1"/>
              <a:t>SignalR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BD9149-2166-CA4E-18CE-5F491A6BB2B3}"/>
              </a:ext>
            </a:extLst>
          </p:cNvPr>
          <p:cNvSpPr txBox="1"/>
          <p:nvPr/>
        </p:nvSpPr>
        <p:spPr>
          <a:xfrm>
            <a:off x="1819275" y="3894656"/>
            <a:ext cx="13735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200" dirty="0"/>
              <a:t>Automatic transport negotiation (</a:t>
            </a:r>
            <a:r>
              <a:rPr lang="en-US" sz="3200" dirty="0" err="1"/>
              <a:t>WebSockets</a:t>
            </a:r>
            <a:r>
              <a:rPr lang="en-US" sz="3200" dirty="0"/>
              <a:t>, SSE, Long Polling)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B728AE-9FD2-7B17-4262-4A54F1A2C984}"/>
              </a:ext>
            </a:extLst>
          </p:cNvPr>
          <p:cNvSpPr txBox="1"/>
          <p:nvPr/>
        </p:nvSpPr>
        <p:spPr>
          <a:xfrm>
            <a:off x="1819275" y="4840403"/>
            <a:ext cx="13735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200" dirty="0"/>
              <a:t>Two-way communication flow: server to client, and client to server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AC9032-0CDF-81F5-A54E-1A317F6A3FE4}"/>
              </a:ext>
            </a:extLst>
          </p:cNvPr>
          <p:cNvSpPr txBox="1"/>
          <p:nvPr/>
        </p:nvSpPr>
        <p:spPr>
          <a:xfrm>
            <a:off x="1819275" y="5786150"/>
            <a:ext cx="13735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200" dirty="0"/>
              <a:t>Use hub infrastructure as a high-level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80F7E-C85D-2795-B0B2-FF40164BACEC}"/>
              </a:ext>
            </a:extLst>
          </p:cNvPr>
          <p:cNvSpPr txBox="1"/>
          <p:nvPr/>
        </p:nvSpPr>
        <p:spPr>
          <a:xfrm>
            <a:off x="1819275" y="3051846"/>
            <a:ext cx="13735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200" dirty="0"/>
              <a:t>ASP.NET Core Open-source library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E09961-18F1-F76D-0E64-824B6E2959BE}"/>
              </a:ext>
            </a:extLst>
          </p:cNvPr>
          <p:cNvSpPr txBox="1"/>
          <p:nvPr/>
        </p:nvSpPr>
        <p:spPr>
          <a:xfrm>
            <a:off x="17393645" y="9838459"/>
            <a:ext cx="7578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/>
              <a:t>Demo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B5FE21-45D9-5A8E-103E-D514AD614A54}"/>
              </a:ext>
            </a:extLst>
          </p:cNvPr>
          <p:cNvSpPr txBox="1"/>
          <p:nvPr/>
        </p:nvSpPr>
        <p:spPr>
          <a:xfrm>
            <a:off x="1819275" y="6731897"/>
            <a:ext cx="13735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200" dirty="0"/>
              <a:t>Comes with ASP.NET Core, but needs a client library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7764A0-3F9D-CB47-B752-69A81D047D0A}"/>
              </a:ext>
            </a:extLst>
          </p:cNvPr>
          <p:cNvSpPr txBox="1"/>
          <p:nvPr/>
        </p:nvSpPr>
        <p:spPr>
          <a:xfrm>
            <a:off x="1819275" y="7677644"/>
            <a:ext cx="13735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200" dirty="0"/>
              <a:t>Handles reconnections, grouping clients, and broadcasting messages</a:t>
            </a:r>
          </a:p>
        </p:txBody>
      </p:sp>
    </p:spTree>
    <p:extLst>
      <p:ext uri="{BB962C8B-B14F-4D97-AF65-F5344CB8AC3E}">
        <p14:creationId xmlns:p14="http://schemas.microsoft.com/office/powerpoint/2010/main" val="56970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2" grpId="0"/>
      <p:bldP spid="5" grpId="0"/>
      <p:bldP spid="6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8E2FC-01AB-4655-4826-831337644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CB00-A7B7-0C32-9EF7-4510C6664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/>
              <a:t>Comparison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5BBDB08-51EE-E88B-C446-81A5FC2CE8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38717"/>
              </p:ext>
            </p:extLst>
          </p:nvPr>
        </p:nvGraphicFramePr>
        <p:xfrm>
          <a:off x="3108960" y="2692895"/>
          <a:ext cx="12192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4267671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29555774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517490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SignalR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7278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Two-Ways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Server -&gt; Client (One way)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804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Transport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WebSockets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SSE, Long Polling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 Streaming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003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Binary Messages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863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Fallback Mechanisms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73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Browser API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SignalR</a:t>
                      </a:r>
                      <a:r>
                        <a:rPr lang="en-US" dirty="0"/>
                        <a:t>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Native </a:t>
                      </a:r>
                      <a:r>
                        <a:rPr lang="en-US" dirty="0" err="1"/>
                        <a:t>EventSource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062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Groups/Users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Built-in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Implemented Manually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26214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78EF7DD-0937-18CB-79B7-5AF3F27EACF5}"/>
              </a:ext>
            </a:extLst>
          </p:cNvPr>
          <p:cNvSpPr txBox="1"/>
          <p:nvPr/>
        </p:nvSpPr>
        <p:spPr>
          <a:xfrm>
            <a:off x="17393645" y="9838459"/>
            <a:ext cx="7578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317353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A19BF-D60F-217E-2EC5-9769EAA8A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C2CE1-5C4F-2E65-56BB-04F004612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/>
              <a:t>How to choose?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B95148-4134-AFB7-2AE3-9A42ACF71429}"/>
              </a:ext>
            </a:extLst>
          </p:cNvPr>
          <p:cNvSpPr txBox="1"/>
          <p:nvPr/>
        </p:nvSpPr>
        <p:spPr>
          <a:xfrm>
            <a:off x="1819275" y="2320877"/>
            <a:ext cx="13735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200" dirty="0"/>
              <a:t>One way / two-way communication?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1CD8C0-17AE-4ACC-A531-0B8C20F79086}"/>
              </a:ext>
            </a:extLst>
          </p:cNvPr>
          <p:cNvSpPr txBox="1"/>
          <p:nvPr/>
        </p:nvSpPr>
        <p:spPr>
          <a:xfrm>
            <a:off x="1819275" y="3272926"/>
            <a:ext cx="13735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200" dirty="0"/>
              <a:t>Trade-offs (users/groups)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2ADF83C-2DB1-CBB5-A142-2E7E21EBA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687" y="3272926"/>
            <a:ext cx="9005821" cy="587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949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52ADD-BAC6-CE9B-E63A-50CC6AF9A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AB93D-ADEC-460D-2C56-529072A12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/>
              <a:t>Application Examples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2E9290B-D393-D880-1436-7B99DE3B7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321309"/>
              </p:ext>
            </p:extLst>
          </p:nvPr>
        </p:nvGraphicFramePr>
        <p:xfrm>
          <a:off x="3108960" y="3003550"/>
          <a:ext cx="12192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732413157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798610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SignalR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323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AI Token Streaming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5305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Collaborative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8076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Notifications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Multiplayer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572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Interactive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335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7596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DE14C-BA3B-F1D3-7C9E-52BE2463C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9C164-5BEB-56D2-E833-59D34F694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/>
              <a:t>Final Takeaway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17D356-47E1-438C-1C19-1BC9733FCC5E}"/>
              </a:ext>
            </a:extLst>
          </p:cNvPr>
          <p:cNvSpPr txBox="1"/>
          <p:nvPr/>
        </p:nvSpPr>
        <p:spPr>
          <a:xfrm>
            <a:off x="1819275" y="2320877"/>
            <a:ext cx="13735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200" dirty="0"/>
              <a:t>SSE is a stream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8DFE0D-12C2-E319-5389-573D00534654}"/>
              </a:ext>
            </a:extLst>
          </p:cNvPr>
          <p:cNvSpPr txBox="1"/>
          <p:nvPr/>
        </p:nvSpPr>
        <p:spPr>
          <a:xfrm>
            <a:off x="1819275" y="3272926"/>
            <a:ext cx="13735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200" dirty="0" err="1"/>
              <a:t>SignalR</a:t>
            </a:r>
            <a:r>
              <a:rPr lang="en-US" sz="3200" dirty="0"/>
              <a:t> is a communication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62D67D-1530-7166-43CD-169C3E72B05F}"/>
              </a:ext>
            </a:extLst>
          </p:cNvPr>
          <p:cNvSpPr txBox="1"/>
          <p:nvPr/>
        </p:nvSpPr>
        <p:spPr>
          <a:xfrm>
            <a:off x="1819275" y="4224975"/>
            <a:ext cx="13735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200" dirty="0"/>
              <a:t>They are not really competing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BC4AAF-A7E6-F27D-C9BD-EBE9CF982C44}"/>
              </a:ext>
            </a:extLst>
          </p:cNvPr>
          <p:cNvSpPr txBox="1"/>
          <p:nvPr/>
        </p:nvSpPr>
        <p:spPr>
          <a:xfrm>
            <a:off x="4158343" y="5631869"/>
            <a:ext cx="1644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Don't choose the most powerful tool. Choose the simplest tool that solves the problem.</a:t>
            </a:r>
          </a:p>
        </p:txBody>
      </p:sp>
    </p:spTree>
    <p:extLst>
      <p:ext uri="{BB962C8B-B14F-4D97-AF65-F5344CB8AC3E}">
        <p14:creationId xmlns:p14="http://schemas.microsoft.com/office/powerpoint/2010/main" val="3654978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4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E5D8D353-7982-D9CC-4DEA-4A8986CF0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81A2C6-7FAA-7CB7-CAE5-A1E45669A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361" y="1554467"/>
            <a:ext cx="14563364" cy="1143000"/>
          </a:xfrm>
        </p:spPr>
        <p:txBody>
          <a:bodyPr lIns="91440" tIns="45720" rIns="91440" bIns="45720" anchor="t"/>
          <a:lstStyle/>
          <a:p>
            <a:r>
              <a:rPr lang="en-US" sz="6000" dirty="0"/>
              <a:t>Questions?</a:t>
            </a:r>
            <a:endParaRPr lang="fr-FR" sz="6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363B06-FCCB-2937-AB18-25D7DF5346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1450" y="3017533"/>
            <a:ext cx="5715000" cy="5715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2E63E2-9F54-95BD-54B2-161F7D15674D}"/>
              </a:ext>
            </a:extLst>
          </p:cNvPr>
          <p:cNvSpPr txBox="1"/>
          <p:nvPr/>
        </p:nvSpPr>
        <p:spPr>
          <a:xfrm>
            <a:off x="12477750" y="2272725"/>
            <a:ext cx="4838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dirty="0"/>
              <a:t>Feedback.. Please?</a:t>
            </a:r>
          </a:p>
        </p:txBody>
      </p:sp>
    </p:spTree>
    <p:extLst>
      <p:ext uri="{BB962C8B-B14F-4D97-AF65-F5344CB8AC3E}">
        <p14:creationId xmlns:p14="http://schemas.microsoft.com/office/powerpoint/2010/main" val="17526546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PT Template AllPhi">
  <a:themeElements>
    <a:clrScheme name="AllPhi Colours">
      <a:dk1>
        <a:srgbClr val="08354A"/>
      </a:dk1>
      <a:lt1>
        <a:sysClr val="window" lastClr="FFFFFF"/>
      </a:lt1>
      <a:dk2>
        <a:srgbClr val="3B7698"/>
      </a:dk2>
      <a:lt2>
        <a:srgbClr val="08354A"/>
      </a:lt2>
      <a:accent1>
        <a:srgbClr val="2799D7"/>
      </a:accent1>
      <a:accent2>
        <a:srgbClr val="3B7698"/>
      </a:accent2>
      <a:accent3>
        <a:srgbClr val="08354A"/>
      </a:accent3>
      <a:accent4>
        <a:srgbClr val="FFFFFF"/>
      </a:accent4>
      <a:accent5>
        <a:srgbClr val="DBEEF3"/>
      </a:accent5>
      <a:accent6>
        <a:srgbClr val="F2F2F2"/>
      </a:accent6>
      <a:hlink>
        <a:srgbClr val="08354A"/>
      </a:hlink>
      <a:folHlink>
        <a:srgbClr val="FFFFFF"/>
      </a:folHlink>
    </a:clrScheme>
    <a:fontScheme name="AllPhi">
      <a:majorFont>
        <a:latin typeface="Montserrat Black"/>
        <a:ea typeface=""/>
        <a:cs typeface=""/>
      </a:majorFont>
      <a:minorFont>
        <a:latin typeface="Karla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 err="1"/>
        </a:defPPr>
      </a:lstStyle>
    </a:txDef>
  </a:objectDefaults>
  <a:extraClrSchemeLst/>
  <a:extLst>
    <a:ext uri="{05A4C25C-085E-4340-85A3-A5531E510DB2}">
      <thm15:themeFamily xmlns:thm15="http://schemas.microsoft.com/office/thememl/2012/main" name="PPT Template AllPhi" id="{E5AFDF89-45B4-4FDD-9D35-901CB1965545}" vid="{A5BDABC2-15CC-4ED8-9155-4D50E41EE5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AllPhi Colours">
    <a:dk1>
      <a:srgbClr val="08354A"/>
    </a:dk1>
    <a:lt1>
      <a:sysClr val="window" lastClr="FFFFFF"/>
    </a:lt1>
    <a:dk2>
      <a:srgbClr val="3B7698"/>
    </a:dk2>
    <a:lt2>
      <a:srgbClr val="08354A"/>
    </a:lt2>
    <a:accent1>
      <a:srgbClr val="2799D7"/>
    </a:accent1>
    <a:accent2>
      <a:srgbClr val="3B7698"/>
    </a:accent2>
    <a:accent3>
      <a:srgbClr val="08354A"/>
    </a:accent3>
    <a:accent4>
      <a:srgbClr val="FFFFFF"/>
    </a:accent4>
    <a:accent5>
      <a:srgbClr val="DBEEF3"/>
    </a:accent5>
    <a:accent6>
      <a:srgbClr val="F2F2F2"/>
    </a:accent6>
    <a:hlink>
      <a:srgbClr val="08354A"/>
    </a:hlink>
    <a:folHlink>
      <a:srgbClr val="FFFFFF"/>
    </a:folHlink>
  </a:clrScheme>
</a:themeOverride>
</file>

<file path=ppt/theme/themeOverride2.xml><?xml version="1.0" encoding="utf-8"?>
<a:themeOverride xmlns:a="http://schemas.openxmlformats.org/drawingml/2006/main">
  <a:clrScheme name="AllPhi Colours">
    <a:dk1>
      <a:srgbClr val="08354A"/>
    </a:dk1>
    <a:lt1>
      <a:sysClr val="window" lastClr="FFFFFF"/>
    </a:lt1>
    <a:dk2>
      <a:srgbClr val="3B7698"/>
    </a:dk2>
    <a:lt2>
      <a:srgbClr val="08354A"/>
    </a:lt2>
    <a:accent1>
      <a:srgbClr val="2799D7"/>
    </a:accent1>
    <a:accent2>
      <a:srgbClr val="3B7698"/>
    </a:accent2>
    <a:accent3>
      <a:srgbClr val="08354A"/>
    </a:accent3>
    <a:accent4>
      <a:srgbClr val="FFFFFF"/>
    </a:accent4>
    <a:accent5>
      <a:srgbClr val="DBEEF3"/>
    </a:accent5>
    <a:accent6>
      <a:srgbClr val="F2F2F2"/>
    </a:accent6>
    <a:hlink>
      <a:srgbClr val="08354A"/>
    </a:hlink>
    <a:folHlink>
      <a:srgbClr val="FFFFF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EDA3959F5652479FD22C0F2500B83D" ma:contentTypeVersion="6" ma:contentTypeDescription="Een nieuw document maken." ma:contentTypeScope="" ma:versionID="b2766be02785903ad09cd51475cb1dc1">
  <xsd:schema xmlns:xsd="http://www.w3.org/2001/XMLSchema" xmlns:xs="http://www.w3.org/2001/XMLSchema" xmlns:p="http://schemas.microsoft.com/office/2006/metadata/properties" xmlns:ns2="07de09e0-31b5-4a84-a978-2ff52100208d" xmlns:ns3="3dadfc23-1fe6-46f5-b9b3-2c47db85b832" targetNamespace="http://schemas.microsoft.com/office/2006/metadata/properties" ma:root="true" ma:fieldsID="ca2aac55a5561dc83b4c6d505b892845" ns2:_="" ns3:_="">
    <xsd:import namespace="07de09e0-31b5-4a84-a978-2ff52100208d"/>
    <xsd:import namespace="3dadfc23-1fe6-46f5-b9b3-2c47db85b8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de09e0-31b5-4a84-a978-2ff5210020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adfc23-1fe6-46f5-b9b3-2c47db85b83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4819A24-FD0A-4873-9FDC-B9C8DEC9FA8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178E873-92C9-406A-8507-D2C894A91B27}">
  <ds:schemaRefs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terms/"/>
    <ds:schemaRef ds:uri="http://purl.org/dc/elements/1.1/"/>
    <ds:schemaRef ds:uri="http://schemas.openxmlformats.org/package/2006/metadata/core-properties"/>
    <ds:schemaRef ds:uri="3dadfc23-1fe6-46f5-b9b3-2c47db85b832"/>
    <ds:schemaRef ds:uri="07de09e0-31b5-4a84-a978-2ff52100208d"/>
  </ds:schemaRefs>
</ds:datastoreItem>
</file>

<file path=customXml/itemProps3.xml><?xml version="1.0" encoding="utf-8"?>
<ds:datastoreItem xmlns:ds="http://schemas.openxmlformats.org/officeDocument/2006/customXml" ds:itemID="{7E56D321-BAD3-422D-A440-F81935A3B2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de09e0-31b5-4a84-a978-2ff52100208d"/>
    <ds:schemaRef ds:uri="3dadfc23-1fe6-46f5-b9b3-2c47db85b8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451</Words>
  <Application>Microsoft Office PowerPoint</Application>
  <PresentationFormat>Custom</PresentationFormat>
  <Paragraphs>138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Karla</vt:lpstr>
      <vt:lpstr>Aptos</vt:lpstr>
      <vt:lpstr>Karla Light</vt:lpstr>
      <vt:lpstr>Montserrat SemiBold</vt:lpstr>
      <vt:lpstr>Arial</vt:lpstr>
      <vt:lpstr>Karla Medium</vt:lpstr>
      <vt:lpstr>PPT Template AllPhi</vt:lpstr>
      <vt:lpstr>PowerPoint Presentation</vt:lpstr>
      <vt:lpstr>SSE vs SignalR: Choosing the right real-time tool in .NET 10</vt:lpstr>
      <vt:lpstr>Before we start…</vt:lpstr>
      <vt:lpstr>Real-Time? What does it mean?</vt:lpstr>
      <vt:lpstr>What is SSE? And why now?</vt:lpstr>
      <vt:lpstr>So, why now?</vt:lpstr>
      <vt:lpstr>SignalR</vt:lpstr>
      <vt:lpstr>Comparison</vt:lpstr>
      <vt:lpstr>How to choose?</vt:lpstr>
      <vt:lpstr>Application Examples</vt:lpstr>
      <vt:lpstr>Final Takeaway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Liesbeth Vangenechten</dc:creator>
  <cp:lastModifiedBy>Paul Karam</cp:lastModifiedBy>
  <cp:revision>93</cp:revision>
  <dcterms:created xsi:type="dcterms:W3CDTF">2023-08-03T06:26:11Z</dcterms:created>
  <dcterms:modified xsi:type="dcterms:W3CDTF">2026-09-18T07:53:22Z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0x010100B1EDA3959F5652479FD22C0F2500B83D</vt:lpwstr>
  </property>
</Properties>
</file>